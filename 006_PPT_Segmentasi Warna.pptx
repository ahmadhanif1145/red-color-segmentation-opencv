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Georgia"/>
              </a:defRPr>
            </a:pPr>
            <a:r>
              <a:rPr lang="es-ES" sz="1400" b="0" i="0" u="none" strike="noStrike">
                <a:solidFill>
                  <a:srgbClr val="1A1A1A"/>
                </a:solidFill>
                <a:latin typeface="Georgia"/>
              </a:rPr>
              <a:t>Red Pixel Ratio (%) — 3 Dataset × 5 Skenario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Mobil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Default</c:v>
                </c:pt>
                <c:pt idx="1">
                  <c:v>Tight</c:v>
                </c:pt>
                <c:pt idx="2">
                  <c:v>Loose</c:v>
                </c:pt>
                <c:pt idx="3">
                  <c:v>Bright</c:v>
                </c:pt>
                <c:pt idx="4">
                  <c:v>Dim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9.16</c:v>
                </c:pt>
                <c:pt idx="1">
                  <c:v>3.77</c:v>
                </c:pt>
                <c:pt idx="2">
                  <c:v>10.26</c:v>
                </c:pt>
                <c:pt idx="3">
                  <c:v>9.5500000000000007</c:v>
                </c:pt>
                <c:pt idx="4">
                  <c:v>3.58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A5-47B9-B206-9E596239E4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Apel</c:v>
                </c:pt>
              </c:strCache>
            </c:strRef>
          </c:tx>
          <c:spPr>
            <a:solidFill>
              <a:srgbClr val="F5C51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Default</c:v>
                </c:pt>
                <c:pt idx="1">
                  <c:v>Tight</c:v>
                </c:pt>
                <c:pt idx="2">
                  <c:v>Loose</c:v>
                </c:pt>
                <c:pt idx="3">
                  <c:v>Bright</c:v>
                </c:pt>
                <c:pt idx="4">
                  <c:v>Dim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41.88</c:v>
                </c:pt>
                <c:pt idx="1">
                  <c:v>3.6</c:v>
                </c:pt>
                <c:pt idx="2">
                  <c:v>54.69</c:v>
                </c:pt>
                <c:pt idx="3">
                  <c:v>45.37</c:v>
                </c:pt>
                <c:pt idx="4">
                  <c:v>7.16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A5-47B9-B206-9E596239E4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Strawberry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Default</c:v>
                </c:pt>
                <c:pt idx="1">
                  <c:v>Tight</c:v>
                </c:pt>
                <c:pt idx="2">
                  <c:v>Loose</c:v>
                </c:pt>
                <c:pt idx="3">
                  <c:v>Bright</c:v>
                </c:pt>
                <c:pt idx="4">
                  <c:v>Dim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11.85</c:v>
                </c:pt>
                <c:pt idx="1">
                  <c:v>7.96</c:v>
                </c:pt>
                <c:pt idx="2">
                  <c:v>12.81</c:v>
                </c:pt>
                <c:pt idx="3">
                  <c:v>12</c:v>
                </c:pt>
                <c:pt idx="4">
                  <c:v>6.86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A5-47B9-B206-9E596239E4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42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WARNA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MERAH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45720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pada Mobil, Apel,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Strawberry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HASIL PRAKTIKUM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Ahmad Hanif Abiyyu Khrisna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2125640006 - D4 Teknik Elektronika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Politeknik Elektronika Negeri Surabaya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5029200"/>
            <a:ext cx="36576" cy="13716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5285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Pengolahan Citra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6016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Mei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77724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citra &amp; threshold warna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77724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55448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237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Warna HSV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RGB vs HSV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77724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15768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Merah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172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rentang Hue terpisah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715768"/>
            <a:ext cx="77724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715768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23760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Pipeline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3172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processing 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877056"/>
            <a:ext cx="77724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77056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922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Mobil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utama: 5 skenario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877056"/>
            <a:ext cx="77724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877056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23760" y="3922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Apel &amp; Strawberry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Generalisasi ke domain lain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038344"/>
            <a:ext cx="77724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038344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554480" y="5084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Nyata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54480" y="5495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&amp; solusinya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5038344"/>
            <a:ext cx="77724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038344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223760" y="5084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3760" y="5495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utama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Konsep Dasar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itu Segmentasi &amp; Thresholding?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5394960" cy="402336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5394960" cy="5486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Segmentasi Citra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membagi citra menjadi beberapa wilayah (region) yang memiliki kesamaan karakteristik tertentu.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bisa berupa: warna, tekstur, intensitas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menyederhanakan analisis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citra dengan objek terpisah dari latar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Aplikasi: deteksi objek, segmentasi medis, robotika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5394960" cy="402336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2194560"/>
            <a:ext cx="5394960" cy="54864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Thresholding Warna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titik yang memisahkan piksel berdasarkan rentang nilai warnanya.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40233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piksel diuji: L ≤ p ≤ 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Lolos → 255 (putih); gagal → 0 (hitam)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citra biner (mask)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OpenCV: cv2.inRange()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Ruang Warna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HSV, Bukan RGB?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5394960" cy="402336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5394960" cy="54864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RGB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kanal aditif (Red, Green, Blue)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display, bukan analisis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cahaya menggeser semua kanal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sulit didefinisikan (kotak 3D)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intuitif terhadap persepsi manusia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194560"/>
            <a:ext cx="5394960" cy="402336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2194560"/>
            <a:ext cx="5394960" cy="5486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HSV  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(warna), Saturation, Value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terisolasi dari intensitas cahaya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tahan terhadap variasi pencahayaan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cukup pilih segmen Hue + S/V 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Mendekati persepsi visual manusia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Karakteristik Merah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Butuh Dua Rentang Hue?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Hue di OpenCV (0 - 179):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94360" cy="6400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468880"/>
            <a:ext cx="914400" cy="640080"/>
          </a:xfrm>
          <a:prstGeom prst="rect">
            <a:avLst/>
          </a:prstGeom>
          <a:solidFill>
            <a:srgbClr val="FF7F00"/>
          </a:solidFill>
          <a:ln w="12700">
            <a:solidFill>
              <a:srgbClr val="FF7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468880"/>
            <a:ext cx="914400" cy="64008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468880"/>
            <a:ext cx="1371600" cy="640080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468880"/>
            <a:ext cx="1371600" cy="64008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2468880"/>
            <a:ext cx="1371600" cy="64008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2468880"/>
            <a:ext cx="1371600" cy="640080"/>
          </a:xfrm>
          <a:prstGeom prst="rect">
            <a:avLst/>
          </a:prstGeom>
          <a:solidFill>
            <a:srgbClr val="8B00FF"/>
          </a:solidFill>
          <a:ln w="12700">
            <a:solidFill>
              <a:srgbClr val="8B0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468880"/>
            <a:ext cx="1371600" cy="640080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21240" y="2468880"/>
            <a:ext cx="1005840" cy="640080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27080" y="2468880"/>
            <a:ext cx="594360" cy="6400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423160"/>
            <a:ext cx="5943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27080" y="2423160"/>
            <a:ext cx="5943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60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120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01852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179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5394960" cy="1097280"/>
          </a:xfrm>
          <a:prstGeom prst="rect">
            <a:avLst/>
          </a:prstGeom>
          <a:solidFill>
            <a:srgbClr val="F8F4F4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Hue 0 – 10  →  Merah "awal"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lower=(0,120,70), upper=(10,255,255)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931920"/>
            <a:ext cx="5394960" cy="1097280"/>
          </a:xfrm>
          <a:prstGeom prst="rect">
            <a:avLst/>
          </a:prstGeom>
          <a:solidFill>
            <a:srgbClr val="F8F4F4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Hue 170 – 180  →  Merah "akhir"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lower=(170,120,70), upper=(180,255,255)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349240"/>
            <a:ext cx="1088136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Solusi: gabungkan dua mask menggunakan cv2.bitwise_or()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Metodologi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Pengolahan Citra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2377440"/>
            <a:ext cx="1783080" cy="2377440"/>
          </a:xfrm>
          <a:prstGeom prst="rect">
            <a:avLst/>
          </a:prstGeom>
          <a:solidFill>
            <a:srgbClr val="F8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2377440"/>
            <a:ext cx="178308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651760"/>
            <a:ext cx="640080" cy="6400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3840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citra BGR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cv2.imread()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18588" y="2377440"/>
            <a:ext cx="1783080" cy="2377440"/>
          </a:xfrm>
          <a:prstGeom prst="rect">
            <a:avLst/>
          </a:prstGeom>
          <a:solidFill>
            <a:srgbClr val="F8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8588" y="2377440"/>
            <a:ext cx="178308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0088" y="2651760"/>
            <a:ext cx="640080" cy="6400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10028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10028" y="3840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→ HSV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cv2.cvtColor()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65676" y="2377440"/>
            <a:ext cx="1783080" cy="2377440"/>
          </a:xfrm>
          <a:prstGeom prst="rect">
            <a:avLst/>
          </a:prstGeom>
          <a:solidFill>
            <a:srgbClr val="F8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5676" y="2377440"/>
            <a:ext cx="178308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37176" y="2651760"/>
            <a:ext cx="640080" cy="6400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57116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57116" y="3840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cv2.inRange()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Hue merah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12764" y="2377440"/>
            <a:ext cx="1783080" cy="2377440"/>
          </a:xfrm>
          <a:prstGeom prst="rect">
            <a:avLst/>
          </a:prstGeom>
          <a:solidFill>
            <a:srgbClr val="F8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2764" y="2377440"/>
            <a:ext cx="178308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84264" y="2651760"/>
            <a:ext cx="640080" cy="6400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04204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04204" y="3840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cv2.bitwise_or()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dua mask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9852" y="2377440"/>
            <a:ext cx="1783080" cy="2377440"/>
          </a:xfrm>
          <a:prstGeom prst="rect">
            <a:avLst/>
          </a:prstGeom>
          <a:solidFill>
            <a:srgbClr val="F8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9852" y="2377440"/>
            <a:ext cx="178308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1352" y="2651760"/>
            <a:ext cx="640080" cy="6400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31352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051292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Cleanup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51292" y="3840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MORPH_OPEN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MORPH_CLOSE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806940" y="2377440"/>
            <a:ext cx="1783080" cy="2377440"/>
          </a:xfrm>
          <a:prstGeom prst="rect">
            <a:avLst/>
          </a:prstGeom>
          <a:solidFill>
            <a:srgbClr val="F8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06940" y="2377440"/>
            <a:ext cx="178308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78440" y="2651760"/>
            <a:ext cx="640080" cy="6400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784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898380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898380" y="3840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cv2.bitwise_and()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× citra asli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285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Morphology penting?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868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MORPH_OPEN menghapus bercak kecil (noise/false positive). MORPH_CLOSE menutup lubang dalam objek (false negative). Dijalankan setelah penggabungan mask untuk hasil yang bersih.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Hasil Mobil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Skenario Default — Dataset Utama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5" name="Image 0" descr="/home/claude/final/output_mobil/01_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3657600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434840"/>
            <a:ext cx="3657600" cy="91440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4434840"/>
            <a:ext cx="54864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507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mobil Toyota: 2 merah, 1 putih, 1 kuning</a:t>
            </a:r>
            <a:endParaRPr lang="en-US" sz="1200" dirty="0"/>
          </a:p>
        </p:txBody>
      </p:sp>
      <p:pic>
        <p:nvPicPr>
          <p:cNvPr id="10" name="Image 1" descr="/home/claude/final/output_mobil/02_mask_defaul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286000"/>
            <a:ext cx="3657600" cy="2057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51960" y="4434840"/>
            <a:ext cx="3657600" cy="91440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51960" y="4434840"/>
            <a:ext cx="54864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34840" y="4507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BINER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34840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Putih = piksel teridentifikasi merah</a:t>
            </a:r>
            <a:endParaRPr lang="en-US" sz="1200" dirty="0"/>
          </a:p>
        </p:txBody>
      </p:sp>
      <p:pic>
        <p:nvPicPr>
          <p:cNvPr id="15" name="Image 2" descr="/home/claude/final/output_mobil/03_result_defaul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286000"/>
            <a:ext cx="3657600" cy="20574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46720" y="4434840"/>
            <a:ext cx="3657600" cy="91440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46720" y="4434840"/>
            <a:ext cx="54864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29600" y="4507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9600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body mobil merah yang terlihat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putih dan kuning tidak terdeteksi — algoritma selektif terhadap warna target.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Hasil Mobil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Variasi Threshold: Tight vs Loose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(S/V tinggi)</a:t>
            </a:r>
            <a:endParaRPr lang="en-US" sz="1300" dirty="0"/>
          </a:p>
        </p:txBody>
      </p:sp>
      <p:pic>
        <p:nvPicPr>
          <p:cNvPr id="6" name="Image 0" descr="/home/claude/final/output_mobil/04_mask_t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5166360" cy="2907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486400"/>
            <a:ext cx="5166360" cy="91440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532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3.77%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514600" y="5532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-5.39%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14600" y="58704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pecah-pecah, hanya highlight terjenuh yang lolos. False negative tinggi.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21031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(S/V rendah)</a:t>
            </a:r>
            <a:endParaRPr lang="en-US" sz="1300" dirty="0"/>
          </a:p>
        </p:txBody>
      </p:sp>
      <p:pic>
        <p:nvPicPr>
          <p:cNvPr id="12" name="Image 1" descr="/home/claude/final/output_mobil/06_mask_loo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468880"/>
            <a:ext cx="5166360" cy="29077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55080" y="5486400"/>
            <a:ext cx="5166360" cy="91440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5532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10.26%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8229600" y="5532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+1.10%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0" y="58704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lebih utuh tetapi shadow &amp; background ikut terdeteksi. False positive tinggi.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Hasil Mobil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Pengaruh Pencahayaan: Bright vs Dim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(V × 1.6)</a:t>
            </a:r>
            <a:endParaRPr lang="en-US" sz="1300" dirty="0"/>
          </a:p>
        </p:txBody>
      </p:sp>
      <p:pic>
        <p:nvPicPr>
          <p:cNvPr id="6" name="Image 0" descr="/home/claude/final/output_mobil/09_bright_ma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5166360" cy="2907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486400"/>
            <a:ext cx="5166360" cy="91440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532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9.55%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514600" y="5532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+0.39%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14600" y="58704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sedikit washed-out tapi mask masih solid. Saturasi tetap masuk rentang.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21031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(V × 0.4)</a:t>
            </a:r>
            <a:endParaRPr lang="en-US" sz="1300" dirty="0"/>
          </a:p>
        </p:txBody>
      </p:sp>
      <p:pic>
        <p:nvPicPr>
          <p:cNvPr id="12" name="Image 1" descr="/home/claude/final/output_mobil/11_dim_mas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468880"/>
            <a:ext cx="5166360" cy="29077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55080" y="5486400"/>
            <a:ext cx="5166360" cy="91440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5532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3.58%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8229600" y="5532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-5.58%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0" y="58704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hampir hilang. V_min=70 jadi bottleneck — banyak piksel jatuh di bawah ambang.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Dataset Tambahan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Eksperimen pada Citra Apel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5" name="Image 0" descr="/home/claude/final/output_apple/01_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0"/>
            <a:ext cx="36576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029200"/>
            <a:ext cx="3657600" cy="73152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029200"/>
            <a:ext cx="54864" cy="7315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102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 kuning + apel merah</a:t>
            </a:r>
            <a:endParaRPr lang="en-US" sz="1100" dirty="0"/>
          </a:p>
        </p:txBody>
      </p:sp>
      <p:pic>
        <p:nvPicPr>
          <p:cNvPr id="10" name="Image 1" descr="/home/claude/final/output_apple/02_mask_defaul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94560"/>
            <a:ext cx="3657600" cy="2743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51960" y="5029200"/>
            <a:ext cx="3657600" cy="73152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51960" y="5029200"/>
            <a:ext cx="54864" cy="7315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34840" y="5102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43484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area merah lolos (41.88%)</a:t>
            </a:r>
            <a:endParaRPr lang="en-US" sz="1100" dirty="0"/>
          </a:p>
        </p:txBody>
      </p:sp>
      <p:pic>
        <p:nvPicPr>
          <p:cNvPr id="15" name="Image 2" descr="/home/claude/final/output_apple/03_result_defaul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194560"/>
            <a:ext cx="3657600" cy="2743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46720" y="5029200"/>
            <a:ext cx="3657600" cy="73152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46720" y="5029200"/>
            <a:ext cx="54864" cy="7315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29600" y="5102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2960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 kuning tertolak total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Selektivitas warna terbukti — apel kuning lolos saringan Hue 30°-60° tidak masuk rentang merah 0°-10° / 170°-180°.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Dataset Tambahan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Eksperimen pada Citra Strawberry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5" name="Image 0" descr="/home/claude/final/output_strawberry/01_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0"/>
            <a:ext cx="365760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892040"/>
            <a:ext cx="3657600" cy="77724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4892040"/>
            <a:ext cx="54864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965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5212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Strawberry matang + mentah, latar daun hijau</a:t>
            </a:r>
            <a:endParaRPr lang="en-US" sz="1100" dirty="0"/>
          </a:p>
        </p:txBody>
      </p:sp>
      <p:pic>
        <p:nvPicPr>
          <p:cNvPr id="10" name="Image 1" descr="/home/claude/final/output_strawberry/02_mask_defaul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94560"/>
            <a:ext cx="3657600" cy="2606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51960" y="4892040"/>
            <a:ext cx="3657600" cy="77724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51960" y="4892040"/>
            <a:ext cx="54864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34840" y="4965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434840" y="5212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strawberry merah ter-segmentasi (11.85%)</a:t>
            </a:r>
            <a:endParaRPr lang="en-US" sz="1100" dirty="0"/>
          </a:p>
        </p:txBody>
      </p:sp>
      <p:pic>
        <p:nvPicPr>
          <p:cNvPr id="15" name="Image 2" descr="/home/claude/final/output_strawberry/03_result_defaul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194560"/>
            <a:ext cx="3657600" cy="2606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46720" y="4892040"/>
            <a:ext cx="3657600" cy="77724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46720" y="4892040"/>
            <a:ext cx="54864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29600" y="4965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29600" y="5212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Hijau &amp; putih mentah tertolak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terburuk untuk algoritma: hijau dominan + multi-objek + warna yang sangat mirip → tetap berhasil!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Analisis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Perbandingan Lintas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457200" y="2011680"/>
          <a:ext cx="75895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Kunci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0" y="2395728"/>
            <a:ext cx="36576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2606040"/>
            <a:ext cx="54864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94192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Apel paling sensitif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94192" y="28986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3.6% → 54.69%, karena banyak area merah (&gt;40% frame).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0" y="3566160"/>
            <a:ext cx="54864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94192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Strawberry stabil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94192" y="3858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6.86% → 12.81%, latar hijau tidak ikut lolos.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0" y="4526280"/>
            <a:ext cx="54864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 konsisten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94192" y="48188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= false negative; Loose = false positive di semua dataset.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0" y="5486400"/>
            <a:ext cx="54864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94192" y="5486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 paling parah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94192" y="57790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V_min=70 jadi bottleneck — apel turun -34%, mobil -5.5%.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Tantangan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False Positive &amp; Cara Atasi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5394960" cy="420624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539496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Masalah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warna hanya melihat HSV per piksel — tidak memahami bentuk atau konteks. Yang ikut lolos: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Rambu lalu lintas merah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Lampu rem mobil lain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Pakaian/helm merah pejalan kaki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bata, atap genteng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merah pada kaca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Awan saat sunset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5394960" cy="4206240"/>
          </a:xfrm>
          <a:prstGeom prst="rect">
            <a:avLst/>
          </a:prstGeom>
          <a:solidFill>
            <a:srgbClr val="F8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2194560"/>
            <a:ext cx="5394960" cy="5486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Solusi (Non-DL)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klasik tanpa Deep Learning untuk Raspberry Pi: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370332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kontur (area + aspect ratio + solidity)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HSV + Lab (kanal a*)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of Interest (ROI) tetap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(untuk video)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balance (Gray-World, Retinex)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Circles untuk validasi roda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Khrisna•  PENS Teknik Elektronika  •  Pengolahan Citra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Kesimpulan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Inti Pembelajaran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486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HSV dual-range Hue berhasil generalize ke 3 domain berbeda: mobil, apel, strawberry. Selektivitas warna terbukti.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200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threshold konsisten: Tight = false negative; Loose = false positive. Default = kompromi optimal.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411480" cy="4114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2062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Pencahayaan redup (V × 0.4) berdampak paling besar — apel turun -34%, V_min=70 menjadi bottleneck.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411480" cy="4114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52120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 false positive cukup dengan filter kontur, multi-color space, ROI, atau CLAHE — tanpa Deep Learning.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22860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772400" y="2880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KASIH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9646920" y="3657600"/>
            <a:ext cx="6400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Pertanyaan?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Hanif Abiyyu Khrisna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5303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Teknik Elektronika  •  PENS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Pengolahan Citra  •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1233</Words>
  <Application>Microsoft Office PowerPoint</Application>
  <PresentationFormat>Widescreen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Segmentasi Warna Merah</dc:title>
  <dc:subject>PptxGenJS Presentation</dc:subject>
  <dc:creator>Ahmad Hanif</dc:creator>
  <cp:lastModifiedBy>Ahmad Hanif Abiyyu Khrisna</cp:lastModifiedBy>
  <cp:revision>4</cp:revision>
  <dcterms:created xsi:type="dcterms:W3CDTF">2026-05-06T04:20:43Z</dcterms:created>
  <dcterms:modified xsi:type="dcterms:W3CDTF">2026-05-06T09:10:51Z</dcterms:modified>
</cp:coreProperties>
</file>